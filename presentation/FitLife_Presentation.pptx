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B4F4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-1645920"/>
            <a:ext cx="5943600" cy="59436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486400"/>
            <a:ext cx="5029200" cy="5029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85340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ajawal"/>
                <a:cs typeface="Tajawal"/>
              </a:rPr>
              <a:t>FitLife  </a:t>
            </a:r>
            <a:r>
              <a:rPr sz="4600" b="0">
                <a:solidFill>
                  <a:srgbClr val="FFFFFF"/>
                </a:solidFill>
                <a:latin typeface="Segoe UI Emoji"/>
                <a:cs typeface="Segoe UI Emoji"/>
              </a:rP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99971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Tajawal"/>
                <a:cs typeface="Tajawal"/>
              </a:rPr>
              <a:t>منصة FitLife لإدارة اللياقة البدنية والتغذية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94760"/>
            <a:ext cx="7985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FFB"/>
                </a:solidFill>
                <a:latin typeface="Tajawal"/>
                <a:cs typeface="Tajawal"/>
              </a:rPr>
              <a:t>حل تقني متكامل يربط العملاء، المدربين، أخصائيي التغذية، والإدارة داخل منصة واحدة تدعم التدريب، التغذية، المتابعة، التواصل، والدفع المحلي.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6847" y="5074920"/>
            <a:ext cx="3291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6847" y="507492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Tajawal"/>
                <a:cs typeface="Tajawal"/>
              </a:rPr>
              <a:t>مشروع تخرج — هندسة البرمجيات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5074920"/>
            <a:ext cx="3291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507492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Tajawal"/>
                <a:cs typeface="Tajawal"/>
              </a:rPr>
              <a:t>تطبيق موبايل + لوحة تحكم ويب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خلفية المشروع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لماذا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FitLife؟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741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Tajawal"/>
                <a:cs typeface="Tajawal"/>
              </a:rPr>
              <a:t>يشهد المجتمع اليوم وعيًا متزايدًا بأهمية الصحة واللياقة والتغذية السليمة، لكن الحصول على متابعة احترافية ومنظمة ما زال يواجه تحديات حقيقية في السوق المحلي.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200400"/>
            <a:ext cx="741852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500" b="0">
                <a:solidFill>
                  <a:srgbClr val="334155"/>
                </a:solidFill>
                <a:latin typeface="Tajawal"/>
                <a:cs typeface="Tajawal"/>
              </a:rPr>
              <a:t>زيادة الاهتمام بالصحة ونمط الحياة المتوازن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500" b="0">
                <a:solidFill>
                  <a:srgbClr val="334155"/>
                </a:solidFill>
                <a:latin typeface="Tajawal"/>
                <a:cs typeface="Tajawal"/>
              </a:rPr>
              <a:t>الحاجة إلى متابعة شخصية من مختصين موثوقين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500" b="0">
                <a:solidFill>
                  <a:srgbClr val="334155"/>
                </a:solidFill>
                <a:latin typeface="Tajawal"/>
                <a:cs typeface="Tajawal"/>
              </a:rPr>
              <a:t>غياب منصة محلية موحدة تجمع التدريب والتغذية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500" b="0">
                <a:solidFill>
                  <a:srgbClr val="334155"/>
                </a:solidFill>
                <a:latin typeface="Tajawal"/>
                <a:cs typeface="Tajawal"/>
              </a:rPr>
              <a:t>صعوبة تنظيم الخطط والقياسات والتواصل والدفع في مكان واحد</a:t>
            </a:r>
          </a:p>
        </p:txBody>
      </p:sp>
      <p:pic>
        <p:nvPicPr>
          <p:cNvPr id="8" name="Picture 7" descr="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217866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النظام الحالي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كيف تتم العملية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حاليًا؟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Tajawal"/>
                <a:cs typeface="Tajawal"/>
              </a:rPr>
              <a:t>يعتمد المستخدمون والمختصون غالبًا على أدوات تقليدية منفصلة وغير مترابطة: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1700" y="21945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6671" y="23957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6671" y="2395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2868" y="31089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تواصل مشتت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الخطط تُرسل عبر WhatsApp أو Telegram كرسائل وملفات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21945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79284" y="23957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9284" y="2395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5482" y="31089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تسجيل عشوائي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متابعة التقدم عبر صور ورسائل دون نظام واضح.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1945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01898" y="23957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1898" y="2395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F4444"/>
                </a:solidFill>
                <a:latin typeface="Segoe UI Emoji"/>
                <a:cs typeface="Segoe UI Emoji"/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1089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لا لوحة موحّدة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غياب لوحة لعرض القياسات والنتائج بشكل منظم.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42519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56671" y="4453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56671" y="4453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868" y="51663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دفع غير منظم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عدم وجود نظام دفع محلي مدمج وموثوق.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4314" y="42519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79284" y="4453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A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9284" y="4453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5CF6"/>
                </a:solidFill>
                <a:latin typeface="Segoe UI Emoji"/>
                <a:cs typeface="Segoe UI Emoji"/>
              </a:rPr>
              <a:t>🗂️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5482" y="51663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سجلات ضائعة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صعوبة الرجوع إلى السجلات والبيانات السابقة.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25196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01898" y="4453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1898" y="4453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16636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تكرار يدوي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إعادة العمل نفسه يدويًا لكل عميل على حدة.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تعريف المشكلة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المشكلة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الأساسية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7839" cy="1143000"/>
          </a:xfrm>
          <a:prstGeom prst="roundRect">
            <a:avLst>
              <a:gd name="adj" fmla="val 8000"/>
            </a:avLst>
          </a:prstGeom>
          <a:solidFill>
            <a:srgbClr val="E9FBF6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10326319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4F44"/>
                </a:solidFill>
                <a:latin typeface="Tajawal"/>
                <a:cs typeface="Tajawal"/>
              </a:rPr>
              <a:t>لا توجد منصة رقمية موحدة تربط بين العميل والمدرب وأخصائي التغذية داخل بيئة واحدة تدعم إدارة الخطط، تتبع التقدم، التواصل، والدفع المحلي.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3246120"/>
            <a:ext cx="530031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تشتت وسائل التواصل بين أطراف متعددة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عدم وجود نظام موحد لإدارة الخطط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ضعف القدرة على تتبع تقدم العميل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غياب الرسوم البيانية والمؤشرات الصحية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530031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صعوبة الوصول إلى مختصين موثوقين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غياب آلية دفع محلية مناسبة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عدم وجود تنبيهات وتذكيرات فعّالة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EF4444"/>
                </a:solidFill>
                <a:latin typeface="Tajawal"/>
                <a:cs typeface="Tajawal"/>
              </a:rPr>
              <a:t>!  </a:t>
            </a:r>
            <a:r>
              <a:rPr sz="1550" b="0">
                <a:solidFill>
                  <a:srgbClr val="334155"/>
                </a:solidFill>
                <a:latin typeface="Tajawal"/>
                <a:cs typeface="Tajawal"/>
              </a:rPr>
              <a:t>صعوبة تحليل وتقييم النتائج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الحل المقترح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منصة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FitLife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83080"/>
            <a:ext cx="732708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Tajawal"/>
                <a:cs typeface="Tajawal"/>
              </a:rPr>
              <a:t>منصة رقمية متكاملة لإدارة خدمات اللياقة والتغذية عبر </a:t>
            </a: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تطبيق موبايل للعملاء</a:t>
            </a:r>
            <a:r>
              <a:rPr sz="1600" b="0">
                <a:solidFill>
                  <a:srgbClr val="334155"/>
                </a:solidFill>
                <a:latin typeface="Tajawal"/>
                <a:cs typeface="Tajawal"/>
              </a:rPr>
              <a:t> و</a:t>
            </a: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لوحة تحكم ويب</a:t>
            </a:r>
            <a:r>
              <a:rPr sz="1600" b="0">
                <a:solidFill>
                  <a:srgbClr val="334155"/>
                </a:solidFill>
                <a:latin typeface="Tajawal"/>
                <a:cs typeface="Tajawal"/>
              </a:rPr>
              <a:t> للمختصين والإدارة.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5523" y="3063240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8403" y="3063240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🏋️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خطط تدريبية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063240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3063240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🥗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خطط غذائية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5523" y="3776472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8403" y="3776472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📈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تتبع القياسات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776472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776472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💬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محادثة مباشرة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523" y="4489704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8403" y="4489704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🔔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إشعارات وتنبيهات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489704"/>
            <a:ext cx="3549243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489704"/>
            <a:ext cx="31834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D9488"/>
                </a:solidFill>
                <a:latin typeface="Segoe UI Emoji"/>
                <a:cs typeface="Segoe UI Emoji"/>
              </a:rPr>
              <a:t>💳 </a:t>
            </a:r>
            <a:r>
              <a:rPr sz="1350" b="1">
                <a:solidFill>
                  <a:srgbClr val="0F6B5C"/>
                </a:solidFill>
                <a:latin typeface="Tajawal"/>
                <a:cs typeface="Tajawal"/>
              </a:rPr>
              <a:t>دفع محلي (معاملات)</a:t>
            </a:r>
          </a:p>
        </p:txBody>
      </p:sp>
      <p:pic>
        <p:nvPicPr>
          <p:cNvPr id="19" name="Picture 18" descr="mobile-work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1" y="1691640"/>
            <a:ext cx="2154463" cy="4480560"/>
          </a:xfrm>
          <a:prstGeom prst="rect">
            <a:avLst/>
          </a:prstGeom>
        </p:spPr>
      </p:pic>
      <p:pic>
        <p:nvPicPr>
          <p:cNvPr id="20" name="Picture 19" descr="mobile-nutrition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314" y="1691640"/>
            <a:ext cx="2077876" cy="44805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القيمة المقترحة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ما الذي يميّز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FitLife؟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2180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667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667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3348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26"/>
                </a:solidFill>
                <a:latin typeface="Tajawal"/>
                <a:cs typeface="Tajawal"/>
              </a:rPr>
              <a:t>للعميل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وصول إلى مختصين موثوقين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خطط تدريب وغذاء منظمة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متابعة الإنجاز اليومي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تقدم عبر مؤشرات ورسوم بيانية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9554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64044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4044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🧑‍🏫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0722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26"/>
                </a:solidFill>
                <a:latin typeface="Tajawal"/>
                <a:cs typeface="Tajawal"/>
              </a:rPr>
              <a:t>للمختص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إدارة العملاء من مكان واحد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إنشاء باقات وبرامج متكاملة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متابعة التزام العملاء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إدارة الأرباح وطلبات السحب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71418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1418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A26"/>
                </a:solidFill>
                <a:latin typeface="Tajawal"/>
                <a:cs typeface="Tajawal"/>
              </a:rPr>
              <a:t>للسوق المحلي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دعم الدفع المحلي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رقمنة قطاع التدريب والتغذية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تقليل الرسائل العشوائية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تجربة موحّدة واحترافية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المستخدمون المستهدفون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أربعة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أدوار</a:t>
            </a: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 داخل النظام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047" y="1965960"/>
            <a:ext cx="2558719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667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667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7215" y="2880360"/>
            <a:ext cx="2156383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العميل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الاشتراك، عرض الخطط اليومية، تسجيل التمارين والوجبات، رفع القياسات والصور، ومتابعة المؤشرات.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65960"/>
            <a:ext cx="2558719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2363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363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🏋️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880360"/>
            <a:ext cx="2156383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المدرب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إنشاء مكتبة تمارين، بناء برامج تدريبية، جدولة التمارين، ومتابعة أداء العميل.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1965960"/>
            <a:ext cx="2558719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059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059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880360"/>
            <a:ext cx="2156383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أخصائي التغذية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إنشاء مكتبة أغذية ووجبات، بناء برامج غذائية، ومراجعة السعرات والماكروز اليومية.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965960"/>
            <a:ext cx="2558719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5755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A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755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5CF6"/>
                </a:solidFill>
                <a:latin typeface="Segoe UI Emoji"/>
                <a:cs typeface="Segoe UI Emoj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880360"/>
            <a:ext cx="2156383" cy="1947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المسؤول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إدارة المستخدمين، مراقبة المدفوعات والاشتراكات، إدارة المحتوى، ومتابعة طلبات السحب.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تصميم قائم على الأدوار (Role-Based) يمنح كل مستخدم صلاحيات ووظائف محددة — تنظيم أعلى، أمان أكبر، وقابلية للتوسع.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وظائف النظام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الوحدات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92024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32" y="19202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🔐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الحسابات والمصادقة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92024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1" y="19202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🛒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سوق المدربين والمختصين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569464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0032" y="2569464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💳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الاشتراكات والدفع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569464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2569464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🏋️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البرامج التدريبية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218688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3218688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🥗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البرامج الغذائية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3218688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1" y="3218688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📈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القياسات والتقدم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867912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3867912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💬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المحادثات والإشعارات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867912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1" y="3867912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🖥️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لوحة تحكم الإدارة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517136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4517136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👛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المحافظ وطلبات السحب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4517136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1" y="4517136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D9488"/>
                </a:solidFill>
                <a:latin typeface="Segoe UI Emoji"/>
                <a:cs typeface="Segoe UI Emoji"/>
              </a:rPr>
              <a:t>📚 </a:t>
            </a:r>
            <a:r>
              <a:rPr sz="1250" b="1">
                <a:solidFill>
                  <a:srgbClr val="0F6B5C"/>
                </a:solidFill>
                <a:latin typeface="Tajawal"/>
                <a:cs typeface="Tajawal"/>
              </a:rPr>
              <a:t>مكتبات التمارين والأغذية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3" y="2039112"/>
            <a:ext cx="5285232" cy="31938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3503" y="2039112"/>
            <a:ext cx="5285232" cy="237744"/>
          </a:xfrm>
          <a:prstGeom prst="roundRect">
            <a:avLst>
              <a:gd name="adj" fmla="val 4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eb-coach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5144"/>
            <a:ext cx="5212080" cy="2901255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76656" y="2112264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9264" y="2112264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60407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C86"/>
                </a:solidFill>
                <a:latin typeface="Tajawal"/>
                <a:cs typeface="Tajawal"/>
              </a:rPr>
              <a:t>لوحة تحكم المدرب — نظرة عامة على النشاط والعملاء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رحلة العميل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من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الهدف</a:t>
            </a: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 إلى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النتيجة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2024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68712" y="206654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68712" y="20665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92024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إنشاء حساب وتعبئة البيانات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92024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39712" y="206654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0665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92024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تصفح المدربين والمختصين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68712" y="288950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68712" y="28895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74320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اختيار المختص والباقة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74320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39712" y="288950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28895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74320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إتمام الدفع محليًا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6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68712" y="371246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37124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56616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استلام الخطة المناسبة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56616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39712" y="371246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37124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356616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تسجيل التمارين والوجبات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438912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268712" y="453542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8712" y="45354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رفع القياسات وصور التقدم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38912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39712" y="453542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45354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438912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متابعة النتائج بالرسوم البيانية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5212080"/>
            <a:ext cx="3246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68712" y="5358384"/>
            <a:ext cx="420624" cy="420624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8712" y="5358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212080"/>
            <a:ext cx="24688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التواصل مع المختص عند الحاجة</a:t>
            </a:r>
          </a:p>
        </p:txBody>
      </p:sp>
      <p:pic>
        <p:nvPicPr>
          <p:cNvPr id="42" name="Picture 41" descr="mobile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2136137" cy="448056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البنية التقنية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التقنيات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المستخدمة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047" y="1965960"/>
            <a:ext cx="25587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74959" y="21671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74959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7215" y="2880360"/>
            <a:ext cx="21563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2A26"/>
                </a:solidFill>
                <a:latin typeface="Tajawal"/>
                <a:cs typeface="Tajawal"/>
              </a:rPr>
              <a:t>الخلفية (Backend)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PHP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Laravel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65960"/>
            <a:ext cx="25587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1919" y="21671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1919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880360"/>
            <a:ext cx="21563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2A26"/>
                </a:solidFill>
                <a:latin typeface="Tajawal"/>
                <a:cs typeface="Tajawal"/>
              </a:rPr>
              <a:t>لوحة التحكم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Vue.js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1965960"/>
            <a:ext cx="25587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08879" y="21671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8879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880360"/>
            <a:ext cx="21563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2A26"/>
                </a:solidFill>
                <a:latin typeface="Tajawal"/>
                <a:cs typeface="Tajawal"/>
              </a:rPr>
              <a:t>تطبيق الموبايل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Flutter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Dart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965960"/>
            <a:ext cx="255871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75839" y="21671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A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5839" y="21671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5CF6"/>
                </a:solidFill>
                <a:latin typeface="Segoe UI Emoji"/>
                <a:cs typeface="Segoe UI Emoji"/>
              </a:rP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880360"/>
            <a:ext cx="21563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2A26"/>
                </a:solidFill>
                <a:latin typeface="Tajawal"/>
                <a:cs typeface="Tajawal"/>
              </a:rPr>
              <a:t>خدمات داعمة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Firebase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Tajawal"/>
                <a:cs typeface="Tajawal"/>
              </a:rPr>
              <a:t>Moamalat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72000"/>
            <a:ext cx="110578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874959" y="477316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74959" y="4773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73659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A26"/>
                </a:solidFill>
                <a:latin typeface="Tajawal"/>
                <a:cs typeface="Tajawal"/>
              </a:rPr>
              <a:t>أدوات التطوير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212080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Tajawal"/>
                <a:cs typeface="Tajawal"/>
              </a:rPr>
              <a:t>VS Code   •   Git &amp; GitHub   •   Postman   •   Draw.io   •   MockFlow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القرارات التقنية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لماذا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هذه التقنيات؟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20240"/>
          <a:ext cx="110578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5754319"/>
              </a:tblGrid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المكوّن</a:t>
                      </a:r>
                    </a:p>
                  </a:txBody>
                  <a:tcPr marL="109728" marR="109728" marT="54864" marB="54864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التقنية</a:t>
                      </a:r>
                    </a:p>
                  </a:txBody>
                  <a:tcPr marL="109728" marR="109728" marT="54864" marB="54864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سبب الاستخدام</a:t>
                      </a:r>
                    </a:p>
                  </a:txBody>
                  <a:tcPr marL="109728" marR="109728" marT="54864" marB="54864" anchor="ctr">
                    <a:solidFill>
                      <a:srgbClr val="0D948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الواجهة الخلفية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Laravel / PHP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بناء API، المصادقة، منطق النظام، وقاعدة البيانات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لوحة التحكم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Vue.js / TypeScript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واجهات تفاعلية وسهلة الصيانة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تطبيق الهاتف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Flutter / Dart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تطبيق متعدد المنصات بأداء جيد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قاعدة البيانات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MySQL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تخزين منظم للبيانات العلائقية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الخدمات الداعمة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Firebase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الإشعارات وبعض خدمات التطبيق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F2A26"/>
                          </a:solidFill>
                          <a:latin typeface="Tajawal"/>
                          <a:cs typeface="Tajawal"/>
                        </a:rPr>
                        <a:t>الدفع المحلي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50" b="1">
                          <a:solidFill>
                            <a:srgbClr val="0D9488"/>
                          </a:solidFill>
                          <a:latin typeface="Tajawal"/>
                          <a:cs typeface="Tajawal"/>
                        </a:rPr>
                        <a:t>Moamalat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>
                          <a:solidFill>
                            <a:srgbClr val="334155"/>
                          </a:solidFill>
                          <a:latin typeface="Tajawal"/>
                          <a:cs typeface="Tajawal"/>
                        </a:rPr>
                        <a:t>تمكين المستخدم من الدفع بطرق محلية</a:t>
                      </a:r>
                    </a:p>
                  </a:txBody>
                  <a:tcPr marL="109728" marR="109728" marT="54864" marB="54864" anchor="ctr">
                    <a:solidFill>
                      <a:srgbClr val="F2FA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معمارية النظام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كيف يعمل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FitLife؟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27087" y="1874519"/>
            <a:ext cx="4297680" cy="960120"/>
          </a:xfrm>
          <a:prstGeom prst="roundRect">
            <a:avLst>
              <a:gd name="adj" fmla="val 10000"/>
            </a:avLst>
          </a:prstGeom>
          <a:solidFill>
            <a:srgbClr val="E9FBF6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9967" y="1874519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📱 تطبيق الموبايل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العملاء — الخطط، التسجيل، التقدم، المحادثة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4297680" cy="960120"/>
          </a:xfrm>
          <a:prstGeom prst="roundRect">
            <a:avLst>
              <a:gd name="adj" fmla="val 10000"/>
            </a:avLst>
          </a:prstGeom>
          <a:solidFill>
            <a:srgbClr val="E9FBF6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3931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🖥️ لوحة تحكم الويب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الإدارة والمدربون وأخصائيو التغذية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29623" y="2926080"/>
            <a:ext cx="292608" cy="310896"/>
          </a:xfrm>
          <a:prstGeom prst="downArrow">
            <a:avLst/>
          </a:prstGeom>
          <a:solidFill>
            <a:srgbClr val="11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2569464" y="2926080"/>
            <a:ext cx="292608" cy="310896"/>
          </a:xfrm>
          <a:prstGeom prst="downArrow">
            <a:avLst/>
          </a:prstGeom>
          <a:solidFill>
            <a:srgbClr val="11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46807" y="3383280"/>
            <a:ext cx="7498079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9687" y="3383280"/>
            <a:ext cx="71323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🔗 الواجهة الخلفية — Backend API (Laravel)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FF7F3"/>
                </a:solidFill>
                <a:latin typeface="Tajawal"/>
                <a:cs typeface="Tajawal"/>
              </a:rPr>
              <a:t>المصادقة · منطق النظام · الدفع · إدارة البيانات · التكامل مع Firebase &amp; Moamalat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4480560"/>
            <a:ext cx="292608" cy="310896"/>
          </a:xfrm>
          <a:prstGeom prst="downArrow">
            <a:avLst/>
          </a:prstGeom>
          <a:solidFill>
            <a:srgbClr val="11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92727" y="4937760"/>
            <a:ext cx="4206240" cy="777240"/>
          </a:xfrm>
          <a:prstGeom prst="roundRect">
            <a:avLst>
              <a:gd name="adj" fmla="val 10000"/>
            </a:avLst>
          </a:prstGeom>
          <a:solidFill>
            <a:srgbClr val="E9FBF6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5607" y="4937760"/>
            <a:ext cx="38404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A26"/>
                </a:solidFill>
                <a:latin typeface="Tajawal"/>
                <a:cs typeface="Tajawal"/>
              </a:rPr>
              <a:t>🗄️ قاعدة البيانات —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فصل واضح للمكونات: كل جزء له مسؤولية محددة، والتواصل بينها يتم عبر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الواجهات وتجربة المستخدم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تطبيق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العميل</a:t>
            </a:r>
          </a:p>
        </p:txBody>
      </p:sp>
      <p:pic>
        <p:nvPicPr>
          <p:cNvPr id="6" name="Picture 5" descr="mobile-work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34" y="1691640"/>
            <a:ext cx="2000573" cy="4160520"/>
          </a:xfrm>
          <a:prstGeom prst="rect">
            <a:avLst/>
          </a:prstGeom>
        </p:spPr>
      </p:pic>
      <p:pic>
        <p:nvPicPr>
          <p:cNvPr id="7" name="Picture 6" descr="mobile-exercis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127" y="1691640"/>
            <a:ext cx="1954307" cy="4160520"/>
          </a:xfrm>
          <a:prstGeom prst="rect">
            <a:avLst/>
          </a:prstGeom>
        </p:spPr>
      </p:pic>
      <p:pic>
        <p:nvPicPr>
          <p:cNvPr id="8" name="Picture 7" descr="mobile-nutrition-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754" y="1691640"/>
            <a:ext cx="1929457" cy="4160520"/>
          </a:xfrm>
          <a:prstGeom prst="rect">
            <a:avLst/>
          </a:prstGeom>
        </p:spPr>
      </p:pic>
      <p:pic>
        <p:nvPicPr>
          <p:cNvPr id="9" name="Picture 8" descr="mobile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531" y="1691640"/>
            <a:ext cx="192992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6"/>
                </a:solidFill>
                <a:latin typeface="Tajawal"/>
                <a:cs typeface="Tajawal"/>
              </a:rPr>
              <a:t>جدول التمارين · تفاصيل التمرين · الخطة الغذائية والسعرات · المحادثة مع المختص — تصميم بسيط يدعم العربية بالكامل.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الواجهات وتجربة المستخدم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لوحة تحكم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المختصين والإدارة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3271" y="1764792"/>
            <a:ext cx="5148072" cy="3147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3271" y="1764792"/>
            <a:ext cx="5148072" cy="237744"/>
          </a:xfrm>
          <a:prstGeom prst="roundRect">
            <a:avLst>
              <a:gd name="adj" fmla="val 4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-exercise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47" y="2020824"/>
            <a:ext cx="5074920" cy="285464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586423" y="1837943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32727" y="1837943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79031" y="1837943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8407" y="4939474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C86"/>
                </a:solidFill>
                <a:latin typeface="Tajawal"/>
                <a:cs typeface="Tajawal"/>
              </a:rPr>
              <a:t>مكتبة التمارين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764792"/>
            <a:ext cx="5148072" cy="31274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764792"/>
            <a:ext cx="5148072" cy="237744"/>
          </a:xfrm>
          <a:prstGeom prst="roundRect">
            <a:avLst>
              <a:gd name="adj" fmla="val 4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eb-reci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20824"/>
            <a:ext cx="5074920" cy="2834819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03504" y="1837943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1837943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1837943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919651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C86"/>
                </a:solidFill>
                <a:latin typeface="Tajawal"/>
                <a:cs typeface="Tajawal"/>
              </a:rPr>
              <a:t>مكتبة الوصفات والوجبات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3271" y="4142232"/>
            <a:ext cx="5148072" cy="31323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3271" y="4142232"/>
            <a:ext cx="5148072" cy="237744"/>
          </a:xfrm>
          <a:prstGeom prst="roundRect">
            <a:avLst>
              <a:gd name="adj" fmla="val 4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eb-client-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847" y="4398264"/>
            <a:ext cx="5074920" cy="2839775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586423" y="4215383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2727" y="4215383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9031" y="4215383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8407" y="7302047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C86"/>
                </a:solidFill>
                <a:latin typeface="Tajawal"/>
                <a:cs typeface="Tajawal"/>
              </a:rPr>
              <a:t>ملف العميل والقياسات والأهداف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4142232"/>
            <a:ext cx="5148072" cy="309769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0352" y="4142232"/>
            <a:ext cx="5148072" cy="237744"/>
          </a:xfrm>
          <a:prstGeom prst="roundRect">
            <a:avLst>
              <a:gd name="adj" fmla="val 4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eb-packa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98264"/>
            <a:ext cx="5074920" cy="2805083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603504" y="4215383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" y="4215383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4215383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7267355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C86"/>
                </a:solidFill>
                <a:latin typeface="Tajawal"/>
                <a:cs typeface="Tajawal"/>
              </a:rPr>
              <a:t>إدارة الخدمات والباقات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معايير الجودة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المتطلبات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غير الوظيفية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1700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6671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6671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2868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الأداء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استجابة سريعة للعمليات الأساسية.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79284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9284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F4444"/>
                </a:solidFill>
                <a:latin typeface="Segoe UI Emoji"/>
                <a:cs typeface="Segoe UI Emoj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الأمان والخصوصية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حماية البيانات الصحية، تشفير كلمات المرور، ومنع الوصول غير المصرح به.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01898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1898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سهولة الاستخدام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واجهات واضحة ومتناسقة بدعم كامل للغة العربية.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56671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56671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التوافقية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العمل على الهواتف والمتصفحات الحديثة.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4314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79284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A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9284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5CF6"/>
                </a:solidFill>
                <a:latin typeface="Segoe UI Emoji"/>
                <a:cs typeface="Segoe UI Emoji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5482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الموثوقية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الحفاظ على التوفر مع دعم النسخ الاحتياطي.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01898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1898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قابلية التوسع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استيعاب زيادة المستخدمين والبيانات مستقبلًا.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دراسة الجدوى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لماذا يمكن أن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ينجح FitLife؟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2180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6671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6671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3348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26"/>
                </a:solidFill>
                <a:latin typeface="Tajawal"/>
                <a:cs typeface="Tajawal"/>
              </a:rPr>
              <a:t>الجدوى الاقتصادية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طلب متزايد على خدمات اللياقة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بيع المختصين خدماتهم مباشرة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دعم الدفع المحلي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نموذج عمل قابل للنمو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9554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64044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4044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0722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26"/>
                </a:solidFill>
                <a:latin typeface="Tajawal"/>
                <a:cs typeface="Tajawal"/>
              </a:rPr>
              <a:t>الجدوى التشغيلية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توحيد العمليات في منصة واحدة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تقليل الفوضى بين التطبيقات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تسهيل إدارة العملاء والخطط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إدارة الاشتراكات بسلاسة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65960"/>
            <a:ext cx="347258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71418" y="216712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1418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880360"/>
            <a:ext cx="3070250" cy="231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26"/>
                </a:solidFill>
                <a:latin typeface="Tajawal"/>
                <a:cs typeface="Tajawal"/>
              </a:rPr>
              <a:t>الجدوى الفنية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تقنيات معروفة ومستقرة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دعم الويب والموبايل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قابلية النظام للتطوير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B82F6"/>
                </a:solidFill>
                <a:latin typeface="Tajawal"/>
                <a:cs typeface="Tajawal"/>
              </a:rPr>
              <a:t>•  </a:t>
            </a:r>
            <a:r>
              <a:rPr sz="1300" b="0">
                <a:solidFill>
                  <a:srgbClr val="334155"/>
                </a:solidFill>
                <a:latin typeface="Tajawal"/>
                <a:cs typeface="Tajawal"/>
              </a:rPr>
              <a:t>بنية واضحة قابلة للصيانة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الميزة التنافسية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ما الذي يجعل FitLife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مختلفًا؟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194560"/>
            <a:ext cx="525459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مصمّم ليناسب السوق المحلي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يدعم الدفع المحلي عبر معاملات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يجمع التدريب والتغذية والمتابعة والتواصل في منصة واحدة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يخدم العميل والمختص والإدارة معًا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525459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يحوّل المتابعة من رسائل عشوائية إلى نظام منظم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يعتمد على البيانات والرسوم البيانية لقياس التقدم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قابل للتوسع بإضافة مزايا ذكية مستقبلًا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300"/>
              </a:spcAft>
            </a:pPr>
            <a:r>
              <a:rPr sz="1700" b="1">
                <a:solidFill>
                  <a:srgbClr val="0D9488"/>
                </a:solidFill>
                <a:latin typeface="Tajawal"/>
                <a:cs typeface="Tajawal"/>
              </a:rPr>
              <a:t>✓  </a:t>
            </a:r>
            <a:r>
              <a:rPr sz="1700" b="0">
                <a:solidFill>
                  <a:srgbClr val="334155"/>
                </a:solidFill>
                <a:latin typeface="Tajawal"/>
                <a:cs typeface="Tajawal"/>
              </a:rPr>
              <a:t>تجربة عربية كاملة وحديثة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منهجية التطوير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نموذج الشلال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المعدّل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4194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2592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32592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346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تحليل المتطلبات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0740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59139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139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3892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تصميم النظام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85686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5686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0439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التنفيذ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834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12233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2233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986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الاختبار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40381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38779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8779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3533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النشر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7" y="1965960"/>
            <a:ext cx="1690573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65326" y="2167128"/>
            <a:ext cx="493776" cy="493776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326" y="216712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" y="2743200"/>
            <a:ext cx="15442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4155"/>
                </a:solidFill>
                <a:latin typeface="Tajawal"/>
                <a:cs typeface="Tajawal"/>
              </a:rPr>
              <a:t>الصيانة والتحسين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749039"/>
            <a:ext cx="11057839" cy="1828800"/>
          </a:xfrm>
          <a:prstGeom prst="roundRect">
            <a:avLst>
              <a:gd name="adj" fmla="val 7000"/>
            </a:avLst>
          </a:prstGeom>
          <a:solidFill>
            <a:srgbClr val="E9FBF6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977639"/>
            <a:ext cx="103263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B4F44"/>
                </a:solidFill>
                <a:latin typeface="Tajawal"/>
                <a:cs typeface="Tajawal"/>
              </a:rPr>
              <a:t>لماذا هذا النموذج؟</a:t>
            </a:r>
          </a:p>
          <a:p>
            <a:pPr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B4F44"/>
                </a:solidFill>
                <a:latin typeface="Tajawal"/>
                <a:cs typeface="Tajawal"/>
              </a:rPr>
              <a:t>متطلبات المشروع كانت واضحة من البداية، والنموذج مناسب لمشاريع التخرج، يوفر تسلسلًا منظمًا للمراحل، ويسمح بالرجوع المحدود للمراحل السابقة عند الحاجة للتصحيح.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B8A6"/>
              </a:gs>
              <a:gs pos="100000">
                <a:srgbClr val="0F6B5C"/>
              </a:gs>
            </a:gsLst>
            <a:lin scaled="0" ang="1890000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Tajawal"/>
                <a:cs typeface="Tajawal"/>
              </a:rPr>
              <a:t>رؤية مستقبلية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A26"/>
                </a:solidFill>
                <a:latin typeface="Tajawal"/>
                <a:cs typeface="Tajawal"/>
              </a:rPr>
              <a:t>التطوير </a:t>
            </a:r>
            <a:r>
              <a:rPr sz="2800" b="1">
                <a:solidFill>
                  <a:srgbClr val="0D9488"/>
                </a:solidFill>
                <a:latin typeface="Tajawal"/>
                <a:cs typeface="Tajawal"/>
              </a:rPr>
              <a:t>المستقبلي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1700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6671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A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6671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5CF6"/>
                </a:solidFill>
                <a:latin typeface="Segoe UI Emoji"/>
                <a:cs typeface="Segoe UI Emoj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2868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توصيات ذكية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نظام توصيات بالذكاء الاصطناعي للتمارين والوجبات.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79284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9284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تنبيهات ذكية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تذكيرات تكيّفية حسب سلوك المستخدم.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01898" y="22128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D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1898" y="22128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3B82F6"/>
                </a:solidFill>
                <a:latin typeface="Segoe UI Emoji"/>
                <a:cs typeface="Segoe UI Emoj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260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تحليل متقدم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تحليل أعمق للتقدم الصحي وتقارير للإدارة.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56671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EF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56671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9E0B"/>
                </a:solidFill>
                <a:latin typeface="Segoe UI Emoji"/>
                <a:cs typeface="Segoe UI Emoji"/>
              </a:rP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تقييمات ومراجعات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تقييم المدربين وأخصائيي التغذية.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4314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79284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9284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F4444"/>
                </a:solidFill>
                <a:latin typeface="Segoe UI Emoji"/>
                <a:cs typeface="Segoe UI Emoji"/>
              </a:rPr>
              <a:t>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5482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الأجهزة القابلة للارتداء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ربط النظام بالساعات وأجهزة التتبع.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69080"/>
            <a:ext cx="3503066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01898" y="4270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1898" y="4270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D9488"/>
                </a:solidFill>
                <a:latin typeface="Segoe UI Emoji"/>
                <a:cs typeface="Segoe UI Emoji"/>
              </a:rPr>
              <a:t>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83480"/>
            <a:ext cx="31007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26"/>
                </a:solidFill>
                <a:latin typeface="Tajawal"/>
                <a:cs typeface="Tajawal"/>
              </a:rPr>
              <a:t>طرق دفع إضافية</a:t>
            </a:r>
          </a:p>
          <a:p>
            <a:pPr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C86"/>
                </a:solidFill>
                <a:latin typeface="Tajawal"/>
                <a:cs typeface="Tajawal"/>
              </a:rPr>
              <a:t>توسيع خيارات الدفع المحلية والعالمية.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4008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63459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C86"/>
                </a:solidFill>
                <a:latin typeface="Tajawal"/>
                <a:cs typeface="Tajawal"/>
              </a:rPr>
              <a:t>FitLife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B4F4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3519" y="457200"/>
            <a:ext cx="841248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3519" y="45720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6B5C"/>
                </a:solidFill>
                <a:latin typeface="Tajawal"/>
                <a:cs typeface="Tajaw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01542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Tajawal"/>
                <a:cs typeface="Tajawal"/>
              </a:rPr>
              <a:t>الخاتمة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Tajawal"/>
                <a:cs typeface="Tajawal"/>
              </a:rPr>
              <a:t>FitLife كحل تقني </a:t>
            </a:r>
            <a:r>
              <a:rPr sz="2800" b="1">
                <a:solidFill>
                  <a:srgbClr val="BFF7EC"/>
                </a:solidFill>
                <a:latin typeface="Tajawal"/>
                <a:cs typeface="Tajawal"/>
              </a:rPr>
              <a:t>متكامل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Tajawal"/>
                <a:cs typeface="Tajawal"/>
              </a:rPr>
              <a:t>منصة رقمية متكاملة تربط العملاء والمدربين وأخصائيي التغذية والإدارة داخل نظام واحد منظم.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697480"/>
            <a:ext cx="525459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يعالج مشاكل النظام التقليدي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ينظّم الخطط والمتابعة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يحسّن التواصل بين العميل والمختص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يدعم الدفع المحلي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525459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يوفّر تجربة استخدام واضحة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قابل للتوسع والتطوير مستقبلًا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يساهم في التحول الرقمي للصحة والرياضة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FFFFFF"/>
                </a:solidFill>
                <a:latin typeface="Tajawal"/>
                <a:cs typeface="Tajawal"/>
              </a:rPr>
              <a:t>✓  </a:t>
            </a:r>
            <a:r>
              <a:rPr sz="1550" b="0">
                <a:solidFill>
                  <a:srgbClr val="FFFFFF"/>
                </a:solidFill>
                <a:latin typeface="Tajawal"/>
                <a:cs typeface="Tajawal"/>
              </a:rPr>
              <a:t>حل واقعي لمشكلة قائمة في السوق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110578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Tajawal"/>
                <a:cs typeface="Tajawal"/>
              </a:rPr>
              <a:t>شكرًا لاستماعكم — أسئلتكم ومناقشتكم محل ترحيب </a:t>
            </a:r>
            <a:r>
              <a:rPr sz="2400" b="0">
                <a:solidFill>
                  <a:srgbClr val="FFFFFF"/>
                </a:solidFill>
                <a:latin typeface="Segoe UI Emoji"/>
                <a:cs typeface="Segoe UI Emoji"/>
              </a:rPr>
              <a:t>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